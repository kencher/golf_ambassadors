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C55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FFFFFF"/>
                </a:solidFill>
              </a:rPr>
              <a:t>PatchIQ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3063240"/>
            <a:ext cx="2011680" cy="91440"/>
          </a:xfrm>
          <a:prstGeom prst="rect">
            <a:avLst/>
          </a:prstGeom>
          <a:solidFill>
            <a:srgbClr val="22C55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2918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60A5FA"/>
                </a:solidFill>
              </a:rPr>
              <a:t>AI-Powered Patch Review for KVM · Kernel · QEMU · libvirt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CA3AF"/>
                </a:solidFill>
              </a:rPr>
              <a:t>watsonx Challenge 2026  ·  IBM KVM &amp; Linux Open Source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Team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04672"/>
            <a:ext cx="1005840" cy="50292"/>
          </a:xfrm>
          <a:prstGeom prst="rect">
            <a:avLst/>
          </a:prstGeom>
          <a:solidFill>
            <a:srgbClr val="22C55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3566160" cy="1417320"/>
          </a:xfrm>
          <a:prstGeom prst="rect">
            <a:avLst/>
          </a:prstGeom>
          <a:solidFill>
            <a:srgbClr val="1E2236"/>
          </a:solidFill>
          <a:ln w="1524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82296" cy="1417320"/>
          </a:xfrm>
          <a:prstGeom prst="rect">
            <a:avLst/>
          </a:prstGeom>
          <a:solidFill>
            <a:srgbClr val="22C55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1508760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Ken Cheruiyot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892808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0A5FA"/>
                </a:solidFill>
              </a:rPr>
              <a:t>KVM &amp; Linux Engineer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2240280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</a:rPr>
              <a:t>cheruiyo@us.ibm.com</a:t>
            </a:r>
          </a:p>
        </p:txBody>
      </p:sp>
      <p:sp>
        <p:nvSpPr>
          <p:cNvPr id="9" name="Rectangle 8"/>
          <p:cNvSpPr/>
          <p:nvPr/>
        </p:nvSpPr>
        <p:spPr>
          <a:xfrm>
            <a:off x="4279392" y="1325880"/>
            <a:ext cx="3566160" cy="1417320"/>
          </a:xfrm>
          <a:prstGeom prst="rect">
            <a:avLst/>
          </a:prstGeom>
          <a:solidFill>
            <a:srgbClr val="1E2236"/>
          </a:solidFill>
          <a:ln w="1524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79392" y="1325880"/>
            <a:ext cx="82296" cy="1417320"/>
          </a:xfrm>
          <a:prstGeom prst="rect">
            <a:avLst/>
          </a:prstGeom>
          <a:solidFill>
            <a:srgbClr val="22C55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43984" y="1508760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Team Member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43984" y="1892808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0A5FA"/>
                </a:solidFill>
              </a:rPr>
              <a:t>KVM &amp; Linux Engineer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43984" y="2240280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</a:rPr>
              <a:t>member2@us.ibm.com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01584" y="1325880"/>
            <a:ext cx="3566160" cy="1417320"/>
          </a:xfrm>
          <a:prstGeom prst="rect">
            <a:avLst/>
          </a:prstGeom>
          <a:solidFill>
            <a:srgbClr val="1E2236"/>
          </a:solidFill>
          <a:ln w="1524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01584" y="1325880"/>
            <a:ext cx="82296" cy="1417320"/>
          </a:xfrm>
          <a:prstGeom prst="rect">
            <a:avLst/>
          </a:prstGeom>
          <a:solidFill>
            <a:srgbClr val="22C55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6" y="1508760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Team Member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1892808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0A5FA"/>
                </a:solidFill>
              </a:rPr>
              <a:t>QEMU / libvirt Engineer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66176" y="2240280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</a:rPr>
              <a:t>member3@us.ibm.com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999232"/>
            <a:ext cx="3566160" cy="1417320"/>
          </a:xfrm>
          <a:prstGeom prst="rect">
            <a:avLst/>
          </a:prstGeom>
          <a:solidFill>
            <a:srgbClr val="1E2236"/>
          </a:solidFill>
          <a:ln w="1524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2999232"/>
            <a:ext cx="82296" cy="1417320"/>
          </a:xfrm>
          <a:prstGeom prst="rect">
            <a:avLst/>
          </a:prstGeom>
          <a:solidFill>
            <a:srgbClr val="22C55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" y="3182112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Team Member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" y="3566160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0A5FA"/>
                </a:solidFill>
              </a:rPr>
              <a:t>Kernel Engineer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3913632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</a:rPr>
              <a:t>member4@us.ibm.com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79392" y="2999232"/>
            <a:ext cx="3566160" cy="1417320"/>
          </a:xfrm>
          <a:prstGeom prst="rect">
            <a:avLst/>
          </a:prstGeom>
          <a:solidFill>
            <a:srgbClr val="1E2236"/>
          </a:solidFill>
          <a:ln w="1524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79392" y="2999232"/>
            <a:ext cx="82296" cy="1417320"/>
          </a:xfrm>
          <a:prstGeom prst="rect">
            <a:avLst/>
          </a:prstGeom>
          <a:solidFill>
            <a:srgbClr val="22C55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43984" y="3182112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Team Member 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43984" y="3566160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0A5FA"/>
                </a:solidFill>
              </a:rPr>
              <a:t>Test &amp; Automation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43984" y="3913632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</a:rPr>
              <a:t>member5@us.ibm.com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01584" y="2999232"/>
            <a:ext cx="3566160" cy="1417320"/>
          </a:xfrm>
          <a:prstGeom prst="rect">
            <a:avLst/>
          </a:prstGeom>
          <a:solidFill>
            <a:srgbClr val="1E2236"/>
          </a:solidFill>
          <a:ln w="1524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01584" y="2999232"/>
            <a:ext cx="82296" cy="1417320"/>
          </a:xfrm>
          <a:prstGeom prst="rect">
            <a:avLst/>
          </a:prstGeom>
          <a:solidFill>
            <a:srgbClr val="22C55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66176" y="3182112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Team Member 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66176" y="3566160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0A5FA"/>
                </a:solidFill>
              </a:rPr>
              <a:t>AI / watsonx Integration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66176" y="3913632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</a:rPr>
              <a:t>member6@us.ibm.com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04672"/>
            <a:ext cx="1005840" cy="50292"/>
          </a:xfrm>
          <a:prstGeom prst="rect">
            <a:avLst/>
          </a:prstGeom>
          <a:solidFill>
            <a:srgbClr val="22C55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5120640" cy="658368"/>
          </a:xfrm>
          <a:prstGeom prst="rect">
            <a:avLst/>
          </a:prstGeom>
          <a:solidFill>
            <a:srgbClr val="1E2236"/>
          </a:solidFill>
          <a:ln w="1524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472184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2C55E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" y="150876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Motivation — the patch review bottleneck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5080" y="1325880"/>
            <a:ext cx="5120640" cy="658368"/>
          </a:xfrm>
          <a:prstGeom prst="rect">
            <a:avLst/>
          </a:prstGeom>
          <a:solidFill>
            <a:srgbClr val="1E2236"/>
          </a:solidFill>
          <a:ln w="1524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472184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2C55E"/>
                </a:solidFill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13448" y="150876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Problem vs Solution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121408"/>
            <a:ext cx="5120640" cy="658368"/>
          </a:xfrm>
          <a:prstGeom prst="rect">
            <a:avLst/>
          </a:prstGeom>
          <a:solidFill>
            <a:srgbClr val="1E2236"/>
          </a:solidFill>
          <a:ln w="1524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267712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2C55E"/>
                </a:solidFill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2304288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How PatchIQ Works — four-stage pipeline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5080" y="2121408"/>
            <a:ext cx="5120640" cy="658368"/>
          </a:xfrm>
          <a:prstGeom prst="rect">
            <a:avLst/>
          </a:prstGeom>
          <a:solidFill>
            <a:srgbClr val="1E2236"/>
          </a:solidFill>
          <a:ln w="1524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267712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2C55E"/>
                </a:solidFill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13448" y="2304288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Test Suite — 68 tests, 5 Python versions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916936"/>
            <a:ext cx="5120640" cy="658368"/>
          </a:xfrm>
          <a:prstGeom prst="rect">
            <a:avLst/>
          </a:prstGeom>
          <a:solidFill>
            <a:srgbClr val="1E2236"/>
          </a:solidFill>
          <a:ln w="1524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06324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2C55E"/>
                </a:solidFill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" y="3099816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Live Patch Review Results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5080" y="2916936"/>
            <a:ext cx="5120640" cy="658368"/>
          </a:xfrm>
          <a:prstGeom prst="rect">
            <a:avLst/>
          </a:prstGeom>
          <a:solidFill>
            <a:srgbClr val="1E2236"/>
          </a:solidFill>
          <a:ln w="1524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306324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2C55E"/>
                </a:solidFill>
              </a:rP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13448" y="3099816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Comparison with Sashiko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38728" y="3712464"/>
            <a:ext cx="5120640" cy="658368"/>
          </a:xfrm>
          <a:prstGeom prst="rect">
            <a:avLst/>
          </a:prstGeom>
          <a:solidFill>
            <a:srgbClr val="1E2236"/>
          </a:solidFill>
          <a:ln w="1524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75888" y="3858768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2C55E"/>
                </a:solidFill>
              </a:rPr>
              <a:t>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97096" y="3895344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Summary &amp; Roadmap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Motivation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04672"/>
            <a:ext cx="1005840" cy="50292"/>
          </a:xfrm>
          <a:prstGeom prst="rect">
            <a:avLst/>
          </a:prstGeom>
          <a:solidFill>
            <a:srgbClr val="22C55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Patch review is the #1 bottleneck in Linux/KVM upstream contribution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2651760" cy="1051560"/>
          </a:xfrm>
          <a:prstGeom prst="rect">
            <a:avLst/>
          </a:prstGeom>
          <a:solidFill>
            <a:srgbClr val="1E2236"/>
          </a:solidFill>
          <a:ln w="1524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1732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22C55E"/>
                </a:solidFill>
              </a:rPr>
              <a:t>6–8 weeks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CA3AF"/>
                </a:solidFill>
              </a:rPr>
              <a:t>avg. kernel review cycle</a:t>
            </a:r>
          </a:p>
        </p:txBody>
      </p:sp>
      <p:sp>
        <p:nvSpPr>
          <p:cNvPr id="8" name="Rectangle 7"/>
          <p:cNvSpPr/>
          <p:nvPr/>
        </p:nvSpPr>
        <p:spPr>
          <a:xfrm>
            <a:off x="3364992" y="1325880"/>
            <a:ext cx="2651760" cy="1051560"/>
          </a:xfrm>
          <a:prstGeom prst="rect">
            <a:avLst/>
          </a:prstGeom>
          <a:solidFill>
            <a:srgbClr val="1E2236"/>
          </a:solidFill>
          <a:ln w="1524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02152" y="141732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22C55E"/>
                </a:solidFill>
              </a:rPr>
              <a:t>40%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56432" y="1920240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CA3AF"/>
                </a:solidFill>
              </a:rPr>
              <a:t>patches need ≥2 revisions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72784" y="1325880"/>
            <a:ext cx="2651760" cy="1051560"/>
          </a:xfrm>
          <a:prstGeom prst="rect">
            <a:avLst/>
          </a:prstGeom>
          <a:solidFill>
            <a:srgbClr val="1E2236"/>
          </a:solidFill>
          <a:ln w="1524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9944" y="141732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22C55E"/>
                </a:solidFill>
              </a:rPr>
              <a:t>12+ rules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4224" y="1920240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CA3AF"/>
                </a:solidFill>
              </a:rPr>
              <a:t>KVM style conventions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80576" y="1325880"/>
            <a:ext cx="2651760" cy="1051560"/>
          </a:xfrm>
          <a:prstGeom prst="rect">
            <a:avLst/>
          </a:prstGeom>
          <a:solidFill>
            <a:srgbClr val="1E2236"/>
          </a:solidFill>
          <a:ln w="1524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17736" y="141732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22C55E"/>
                </a:solidFill>
              </a:rPr>
              <a:t>3 layers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72016" y="1920240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CA3AF"/>
                </a:solidFill>
              </a:rPr>
              <a:t>kernel · QEMU · libvirt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606040"/>
            <a:ext cx="5029200" cy="3840480"/>
          </a:xfrm>
          <a:prstGeom prst="rect">
            <a:avLst/>
          </a:prstGeom>
          <a:solidFill>
            <a:srgbClr val="1E2236"/>
          </a:solidFill>
          <a:ln w="1524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2670048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97316"/>
                </a:solidFill>
              </a:rPr>
              <a:t>Pain Points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154680"/>
            <a:ext cx="4663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Manual style checks eat 30–60 min per patch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685032"/>
            <a:ext cx="4663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Inconsistent rule application across reviewers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215384"/>
            <a:ext cx="4663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No automated per-layer (kernel/QEMU/libvirt) enforcement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745736"/>
            <a:ext cx="4663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Developers learn conventions only after rejection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276088"/>
            <a:ext cx="4663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First-time contributors face steep learning curve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806440" y="2606040"/>
            <a:ext cx="5943600" cy="3840480"/>
          </a:xfrm>
          <a:prstGeom prst="rect">
            <a:avLst/>
          </a:prstGeom>
          <a:solidFill>
            <a:srgbClr val="1E2236"/>
          </a:solidFill>
          <a:ln w="1524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0" y="2715768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Review Revision Rate by Layer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3246120"/>
            <a:ext cx="1188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CA3AF"/>
                </a:solidFill>
              </a:rPr>
              <a:t>Kernel/KVM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78040" y="3374136"/>
            <a:ext cx="2721254" cy="402336"/>
          </a:xfrm>
          <a:prstGeom prst="rect">
            <a:avLst/>
          </a:prstGeom>
          <a:solidFill>
            <a:srgbClr val="EF4444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45014" y="3374136"/>
            <a:ext cx="548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F4444"/>
                </a:solidFill>
              </a:rPr>
              <a:t>62%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4105656"/>
            <a:ext cx="1188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CA3AF"/>
                </a:solidFill>
              </a:rPr>
              <a:t>QEMU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78040" y="4233672"/>
            <a:ext cx="2106777" cy="402336"/>
          </a:xfrm>
          <a:prstGeom prst="rect">
            <a:avLst/>
          </a:prstGeom>
          <a:solidFill>
            <a:srgbClr val="F9731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30537" y="4233672"/>
            <a:ext cx="548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97316"/>
                </a:solidFill>
              </a:rPr>
              <a:t>48%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4965192"/>
            <a:ext cx="1188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CA3AF"/>
                </a:solidFill>
              </a:rPr>
              <a:t>libvirt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178040" y="5093208"/>
            <a:ext cx="1667865" cy="402336"/>
          </a:xfrm>
          <a:prstGeom prst="rect">
            <a:avLst/>
          </a:prstGeom>
          <a:solidFill>
            <a:srgbClr val="FACC1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91625" y="5093208"/>
            <a:ext cx="548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ACC15"/>
                </a:solidFill>
              </a:rPr>
              <a:t>38%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Problem vs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04672"/>
            <a:ext cx="1005840" cy="50292"/>
          </a:xfrm>
          <a:prstGeom prst="rect">
            <a:avLst/>
          </a:prstGeom>
          <a:solidFill>
            <a:srgbClr val="22C55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234440"/>
            <a:ext cx="5577840" cy="5257800"/>
          </a:xfrm>
          <a:prstGeom prst="rect">
            <a:avLst/>
          </a:prstGeom>
          <a:solidFill>
            <a:srgbClr val="1E2236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98448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F4444"/>
                </a:solidFill>
              </a:rPr>
              <a:t>Without PatchIQ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74519"/>
            <a:ext cx="5349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✗  Manual trawl through Linux kernel coding style docs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14599"/>
            <a:ext cx="5349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✗  Per-reviewer inconsistency on KVM locking rules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154679"/>
            <a:ext cx="5349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✗  printk / ioremap mistakes only caught at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794759"/>
            <a:ext cx="5349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✗  No unified score — hard to prioritise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434839"/>
            <a:ext cx="5349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✗  Patches rejected → discouragement, slower upstream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45352" y="1234440"/>
            <a:ext cx="5577840" cy="5257800"/>
          </a:xfrm>
          <a:prstGeom prst="rect">
            <a:avLst/>
          </a:prstGeom>
          <a:solidFill>
            <a:srgbClr val="1E2236"/>
          </a:solidFill>
          <a:ln w="1524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2512" y="1298448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2C55E"/>
                </a:solidFill>
              </a:rPr>
              <a:t>With PatchIQ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2512" y="1874519"/>
            <a:ext cx="5349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✓  14 deterministic rules enforced automatically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2514599"/>
            <a:ext cx="5349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✓  Per-layer rule sets: kernel / QEMU / libvirt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3154679"/>
            <a:ext cx="5349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✓  K001–K004 / Q001–Q004 / L001–L003 / U001–U003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3794759"/>
            <a:ext cx="5349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✓  0–100 quality score with per-finding deduction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4434839"/>
            <a:ext cx="5349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✓  watsonx Granite AI narrative + actionable suggestions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0" y="36576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22C55E"/>
                </a:solidFill>
              </a:rPr>
              <a:t>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How It Works — Four-Stage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04672"/>
            <a:ext cx="1005840" cy="50292"/>
          </a:xfrm>
          <a:prstGeom prst="rect">
            <a:avLst/>
          </a:prstGeom>
          <a:solidFill>
            <a:srgbClr val="22C55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417320"/>
            <a:ext cx="2468880" cy="2926080"/>
          </a:xfrm>
          <a:prstGeom prst="rect">
            <a:avLst/>
          </a:prstGeom>
          <a:solidFill>
            <a:srgbClr val="1E2236"/>
          </a:solidFill>
          <a:ln w="1524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417320"/>
            <a:ext cx="2468880" cy="73152"/>
          </a:xfrm>
          <a:prstGeom prst="rect">
            <a:avLst/>
          </a:prstGeom>
          <a:solidFill>
            <a:srgbClr val="22C55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1545336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C55E"/>
                </a:solidFill>
              </a:rPr>
              <a:t>①  parse_diff()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2075688"/>
            <a:ext cx="22860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Split unified diff into
per-file hunks, extract
Subject header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3931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CA3AF"/>
                </a:solidFill>
              </a:rPr>
              <a:t>analyzer.py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44952" y="2606040"/>
            <a:ext cx="2926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9CA3AF"/>
                </a:solidFill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55848" y="1417320"/>
            <a:ext cx="2468880" cy="2926080"/>
          </a:xfrm>
          <a:prstGeom prst="rect">
            <a:avLst/>
          </a:prstGeom>
          <a:solidFill>
            <a:srgbClr val="1E2236"/>
          </a:solidFill>
          <a:ln w="1524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55848" y="1417320"/>
            <a:ext cx="2468880" cy="73152"/>
          </a:xfrm>
          <a:prstGeom prst="rect">
            <a:avLst/>
          </a:prstGeom>
          <a:solidFill>
            <a:srgbClr val="60A5F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65576" y="1545336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0A5FA"/>
                </a:solidFill>
              </a:rPr>
              <a:t>②  detect_layer()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65576" y="2075688"/>
            <a:ext cx="22860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Match file path regex:
kernel · qemu · libvirt
· unknown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65576" y="3931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CA3AF"/>
                </a:solidFill>
              </a:rPr>
              <a:t>analyzer.py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97880" y="2606040"/>
            <a:ext cx="2926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9CA3AF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08776" y="1417320"/>
            <a:ext cx="2468880" cy="2926080"/>
          </a:xfrm>
          <a:prstGeom prst="rect">
            <a:avLst/>
          </a:prstGeom>
          <a:solidFill>
            <a:srgbClr val="1E2236"/>
          </a:solidFill>
          <a:ln w="1524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08776" y="1417320"/>
            <a:ext cx="2468880" cy="73152"/>
          </a:xfrm>
          <a:prstGeom prst="rect">
            <a:avLst/>
          </a:prstGeom>
          <a:solidFill>
            <a:srgbClr val="F9731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18504" y="1545336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97316"/>
                </a:solidFill>
              </a:rPr>
              <a:t>③  run_rules()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18504" y="2075688"/>
            <a:ext cx="22860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14 deterministic style
checks per layer
→ List[Finding]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18504" y="3931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CA3AF"/>
                </a:solidFill>
              </a:rPr>
              <a:t>rules.py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50808" y="2606040"/>
            <a:ext cx="2926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9CA3AF"/>
                </a:solidFill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61704" y="1417320"/>
            <a:ext cx="2468880" cy="2926080"/>
          </a:xfrm>
          <a:prstGeom prst="rect">
            <a:avLst/>
          </a:prstGeom>
          <a:solidFill>
            <a:srgbClr val="1E2236"/>
          </a:solidFill>
          <a:ln w="15240">
            <a:solidFill>
              <a:srgbClr val="7C5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61704" y="1417320"/>
            <a:ext cx="2468880" cy="73152"/>
          </a:xfrm>
          <a:prstGeom prst="rect">
            <a:avLst/>
          </a:prstGeom>
          <a:solidFill>
            <a:srgbClr val="7C5CD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71432" y="1545336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5CD8"/>
                </a:solidFill>
              </a:rPr>
              <a:t>④  ai_review()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71432" y="2075688"/>
            <a:ext cx="22860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watsonx Granite 13B
JSON: summary +
suggestions[]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71432" y="3931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CA3AF"/>
                </a:solidFill>
              </a:rPr>
              <a:t>analyzer.py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4617720"/>
            <a:ext cx="11155680" cy="1143000"/>
          </a:xfrm>
          <a:prstGeom prst="rect">
            <a:avLst/>
          </a:prstGeom>
          <a:solidFill>
            <a:srgbClr val="1E2236"/>
          </a:solidFill>
          <a:ln w="1524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47548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2C55E"/>
                </a:solidFill>
              </a:rPr>
              <a:t>⑤  Score  =  100  −  (errors×20)  −  (warnings×8)  −  (info×2)   ·   floor = 0   ·   clean patch = 100/100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257800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9CA3AF"/>
                </a:solidFill>
              </a:rPr>
              <a:t>analyzer.py  ·  rules.py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Test Suite — 68 Tests, 5 Python Versions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04672"/>
            <a:ext cx="1005840" cy="50292"/>
          </a:xfrm>
          <a:prstGeom prst="rect">
            <a:avLst/>
          </a:prstGeom>
          <a:solidFill>
            <a:srgbClr val="22C55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298448"/>
            <a:ext cx="3200400" cy="2011680"/>
          </a:xfrm>
          <a:prstGeom prst="rect">
            <a:avLst/>
          </a:prstGeom>
          <a:solidFill>
            <a:srgbClr val="1E2236"/>
          </a:solidFill>
          <a:ln w="1524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22C55E"/>
                </a:solidFill>
              </a:rPr>
              <a:t>68 / 68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6888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All tests passing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3931920" y="1298448"/>
            <a:ext cx="7863840" cy="2011680"/>
          </a:xfrm>
          <a:prstGeom prst="rect">
            <a:avLst/>
          </a:prstGeom>
          <a:solidFill>
            <a:srgbClr val="1E2236"/>
          </a:solidFill>
          <a:ln w="1524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0" y="1389888"/>
            <a:ext cx="74980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0A5FA"/>
                </a:solidFill>
              </a:rPr>
              <a:t>CI matrix (GitHub Actions)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1874519"/>
            <a:ext cx="1325880" cy="1143000"/>
          </a:xfrm>
          <a:prstGeom prst="rect">
            <a:avLst/>
          </a:prstGeom>
          <a:solidFill>
            <a:srgbClr val="1E2236"/>
          </a:solidFill>
          <a:ln w="1524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0" y="1938528"/>
            <a:ext cx="11704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2C55E"/>
                </a:solidFill>
              </a:rPr>
              <a:t>Python
3.8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2578608"/>
            <a:ext cx="11704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✓ pass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77840" y="1874519"/>
            <a:ext cx="1325880" cy="1143000"/>
          </a:xfrm>
          <a:prstGeom prst="rect">
            <a:avLst/>
          </a:prstGeom>
          <a:solidFill>
            <a:srgbClr val="1E2236"/>
          </a:solidFill>
          <a:ln w="1524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0" y="1938528"/>
            <a:ext cx="11704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2C55E"/>
                </a:solidFill>
              </a:rPr>
              <a:t>Python
3.9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2578608"/>
            <a:ext cx="11704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✓ pass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40880" y="1874519"/>
            <a:ext cx="1325880" cy="1143000"/>
          </a:xfrm>
          <a:prstGeom prst="rect">
            <a:avLst/>
          </a:prstGeom>
          <a:solidFill>
            <a:srgbClr val="1E2236"/>
          </a:solidFill>
          <a:ln w="1524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0" y="1938528"/>
            <a:ext cx="11704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2C55E"/>
                </a:solidFill>
              </a:rPr>
              <a:t>Python
3.10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2578608"/>
            <a:ext cx="11704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✓ pass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03920" y="1874519"/>
            <a:ext cx="1325880" cy="1143000"/>
          </a:xfrm>
          <a:prstGeom prst="rect">
            <a:avLst/>
          </a:prstGeom>
          <a:solidFill>
            <a:srgbClr val="1E2236"/>
          </a:solidFill>
          <a:ln w="1524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0" y="1938528"/>
            <a:ext cx="11704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2C55E"/>
                </a:solidFill>
              </a:rPr>
              <a:t>Python
3.11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2578608"/>
            <a:ext cx="11704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✓ pass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966960" y="1874519"/>
            <a:ext cx="1325880" cy="1143000"/>
          </a:xfrm>
          <a:prstGeom prst="rect">
            <a:avLst/>
          </a:prstGeom>
          <a:solidFill>
            <a:srgbClr val="1E2236"/>
          </a:solidFill>
          <a:ln w="1524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0" y="1938528"/>
            <a:ext cx="11704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2C55E"/>
                </a:solidFill>
              </a:rPr>
              <a:t>Python
3.12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2578608"/>
            <a:ext cx="11704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✓ pass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520440"/>
            <a:ext cx="11247120" cy="804672"/>
          </a:xfrm>
          <a:prstGeom prst="rect">
            <a:avLst/>
          </a:prstGeom>
          <a:solidFill>
            <a:srgbClr val="1E2236"/>
          </a:solidFill>
          <a:ln w="1524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657600"/>
            <a:ext cx="2011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C55E"/>
                </a:solidFill>
              </a:rPr>
              <a:t>test_rules.py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3657600"/>
            <a:ext cx="1005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ACC15"/>
                </a:solidFill>
              </a:rPr>
              <a:t>36 tests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0" y="3685032"/>
            <a:ext cx="7680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Every K/Q/L/U rule — positive + negative case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480560"/>
            <a:ext cx="11247120" cy="804672"/>
          </a:xfrm>
          <a:prstGeom prst="rect">
            <a:avLst/>
          </a:prstGeom>
          <a:solidFill>
            <a:srgbClr val="1E2236"/>
          </a:solidFill>
          <a:ln w="1524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4617720"/>
            <a:ext cx="2011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C55E"/>
                </a:solidFill>
              </a:rPr>
              <a:t>test_analyzer.py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4617720"/>
            <a:ext cx="1005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ACC15"/>
                </a:solidFill>
              </a:rPr>
              <a:t>32 tests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40480" y="4645152"/>
            <a:ext cx="7680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Diff parser, layer detect, scoring, end-to-end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5440680"/>
            <a:ext cx="11247120" cy="804672"/>
          </a:xfrm>
          <a:prstGeom prst="rect">
            <a:avLst/>
          </a:prstGeom>
          <a:solidFill>
            <a:srgbClr val="1E2236"/>
          </a:solidFill>
          <a:ln w="1524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5577840"/>
            <a:ext cx="2011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C55E"/>
                </a:solidFill>
              </a:rPr>
              <a:t>No credentials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0" y="5577840"/>
            <a:ext cx="1005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ACC15"/>
                </a:solidFill>
              </a:rPr>
              <a:t>required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40480" y="5605272"/>
            <a:ext cx="7680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All tests run offline — no watsonx API key needed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Live Patch Review — Scores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04672"/>
            <a:ext cx="1005840" cy="50292"/>
          </a:xfrm>
          <a:prstGeom prst="rect">
            <a:avLst/>
          </a:prstGeom>
          <a:solidFill>
            <a:srgbClr val="22C55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298448"/>
            <a:ext cx="11247120" cy="1572768"/>
          </a:xfrm>
          <a:prstGeom prst="rect">
            <a:avLst/>
          </a:prstGeom>
          <a:solidFill>
            <a:srgbClr val="1E2236"/>
          </a:solidFill>
          <a:ln w="1524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99616"/>
            <a:ext cx="1234440" cy="1170432"/>
          </a:xfrm>
          <a:prstGeom prst="rect">
            <a:avLst/>
          </a:prstGeom>
          <a:solidFill>
            <a:srgbClr val="1E2236"/>
          </a:solidFill>
          <a:ln w="254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72768"/>
            <a:ext cx="1234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97316"/>
                </a:solidFill>
              </a:rPr>
              <a:t>56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31136"/>
            <a:ext cx="1234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CA3AF"/>
                </a:solidFill>
              </a:rPr>
              <a:t>/100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1481328"/>
            <a:ext cx="3657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kernel.patch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92024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CA3AF"/>
                </a:solidFill>
              </a:rPr>
              <a:t>7 findings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65960" y="2350008"/>
            <a:ext cx="841248" cy="347472"/>
          </a:xfrm>
          <a:prstGeom prst="rect">
            <a:avLst/>
          </a:prstGeom>
          <a:solidFill>
            <a:srgbClr val="1E2236"/>
          </a:solidFill>
          <a:ln w="1016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65960" y="2377440"/>
            <a:ext cx="8412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97316"/>
                </a:solidFill>
              </a:rPr>
              <a:t>U001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80360" y="2350008"/>
            <a:ext cx="841248" cy="347472"/>
          </a:xfrm>
          <a:prstGeom prst="rect">
            <a:avLst/>
          </a:prstGeom>
          <a:solidFill>
            <a:srgbClr val="1E2236"/>
          </a:solidFill>
          <a:ln w="1016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80360" y="2377440"/>
            <a:ext cx="8412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97316"/>
                </a:solidFill>
              </a:rPr>
              <a:t>U002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94760" y="2350008"/>
            <a:ext cx="841248" cy="347472"/>
          </a:xfrm>
          <a:prstGeom prst="rect">
            <a:avLst/>
          </a:prstGeom>
          <a:solidFill>
            <a:srgbClr val="1E2236"/>
          </a:solidFill>
          <a:ln w="1016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94760" y="2377440"/>
            <a:ext cx="8412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60A5FA"/>
                </a:solidFill>
              </a:rPr>
              <a:t>U003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09160" y="2350008"/>
            <a:ext cx="841248" cy="347472"/>
          </a:xfrm>
          <a:prstGeom prst="rect">
            <a:avLst/>
          </a:prstGeom>
          <a:solidFill>
            <a:srgbClr val="1E2236"/>
          </a:solidFill>
          <a:ln w="1016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09160" y="2377440"/>
            <a:ext cx="8412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97316"/>
                </a:solidFill>
              </a:rPr>
              <a:t>K001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23560" y="2350008"/>
            <a:ext cx="841248" cy="347472"/>
          </a:xfrm>
          <a:prstGeom prst="rect">
            <a:avLst/>
          </a:prstGeom>
          <a:solidFill>
            <a:srgbClr val="1E2236"/>
          </a:solidFill>
          <a:ln w="1016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23560" y="2377440"/>
            <a:ext cx="8412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60A5FA"/>
                </a:solidFill>
              </a:rPr>
              <a:t>K002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37960" y="2350008"/>
            <a:ext cx="841248" cy="347472"/>
          </a:xfrm>
          <a:prstGeom prst="rect">
            <a:avLst/>
          </a:prstGeom>
          <a:solidFill>
            <a:srgbClr val="1E2236"/>
          </a:solidFill>
          <a:ln w="1016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2377440"/>
            <a:ext cx="8412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97316"/>
                </a:solidFill>
              </a:rPr>
              <a:t>K003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52360" y="2350008"/>
            <a:ext cx="841248" cy="347472"/>
          </a:xfrm>
          <a:prstGeom prst="rect">
            <a:avLst/>
          </a:prstGeom>
          <a:solidFill>
            <a:srgbClr val="1E2236"/>
          </a:solidFill>
          <a:ln w="1016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52360" y="2377440"/>
            <a:ext cx="8412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97316"/>
                </a:solidFill>
              </a:rPr>
              <a:t>K004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017520"/>
            <a:ext cx="11247120" cy="1572768"/>
          </a:xfrm>
          <a:prstGeom prst="rect">
            <a:avLst/>
          </a:prstGeom>
          <a:solidFill>
            <a:srgbClr val="1E2236"/>
          </a:solidFill>
          <a:ln w="1524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3218688"/>
            <a:ext cx="1234440" cy="1170432"/>
          </a:xfrm>
          <a:prstGeom prst="rect">
            <a:avLst/>
          </a:prstGeom>
          <a:solidFill>
            <a:srgbClr val="1E2236"/>
          </a:solidFill>
          <a:ln w="2540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3291840"/>
            <a:ext cx="1234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ACC15"/>
                </a:solidFill>
              </a:rPr>
              <a:t>78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3950208"/>
            <a:ext cx="1234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CA3AF"/>
                </a:solidFill>
              </a:rPr>
              <a:t>/100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65960" y="3200400"/>
            <a:ext cx="3657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qemu.patch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363931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CA3AF"/>
                </a:solidFill>
              </a:rPr>
              <a:t>5 findings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965960" y="4069080"/>
            <a:ext cx="841248" cy="347472"/>
          </a:xfrm>
          <a:prstGeom prst="rect">
            <a:avLst/>
          </a:prstGeom>
          <a:solidFill>
            <a:srgbClr val="1E2236"/>
          </a:solidFill>
          <a:ln w="1016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965960" y="4096512"/>
            <a:ext cx="8412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60A5FA"/>
                </a:solidFill>
              </a:rPr>
              <a:t>U003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80360" y="4069080"/>
            <a:ext cx="841248" cy="347472"/>
          </a:xfrm>
          <a:prstGeom prst="rect">
            <a:avLst/>
          </a:prstGeom>
          <a:solidFill>
            <a:srgbClr val="1E2236"/>
          </a:solidFill>
          <a:ln w="1016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80360" y="4096512"/>
            <a:ext cx="8412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97316"/>
                </a:solidFill>
              </a:rPr>
              <a:t>Q001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794760" y="4069080"/>
            <a:ext cx="841248" cy="347472"/>
          </a:xfrm>
          <a:prstGeom prst="rect">
            <a:avLst/>
          </a:prstGeom>
          <a:solidFill>
            <a:srgbClr val="1E2236"/>
          </a:solidFill>
          <a:ln w="1016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94760" y="4096512"/>
            <a:ext cx="8412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60A5FA"/>
                </a:solidFill>
              </a:rPr>
              <a:t>Q002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709160" y="4069080"/>
            <a:ext cx="841248" cy="347472"/>
          </a:xfrm>
          <a:prstGeom prst="rect">
            <a:avLst/>
          </a:prstGeom>
          <a:solidFill>
            <a:srgbClr val="1E2236"/>
          </a:solidFill>
          <a:ln w="1016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09160" y="4096512"/>
            <a:ext cx="8412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60A5FA"/>
                </a:solidFill>
              </a:rPr>
              <a:t>Q003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23560" y="4069080"/>
            <a:ext cx="841248" cy="347472"/>
          </a:xfrm>
          <a:prstGeom prst="rect">
            <a:avLst/>
          </a:prstGeom>
          <a:solidFill>
            <a:srgbClr val="1E2236"/>
          </a:solidFill>
          <a:ln w="1016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623560" y="4096512"/>
            <a:ext cx="8412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97316"/>
                </a:solidFill>
              </a:rPr>
              <a:t>Q004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4736592"/>
            <a:ext cx="11247120" cy="1572768"/>
          </a:xfrm>
          <a:prstGeom prst="rect">
            <a:avLst/>
          </a:prstGeom>
          <a:solidFill>
            <a:srgbClr val="1E2236"/>
          </a:solidFill>
          <a:ln w="1524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48640" y="4937760"/>
            <a:ext cx="1234440" cy="1170432"/>
          </a:xfrm>
          <a:prstGeom prst="rect">
            <a:avLst/>
          </a:prstGeom>
          <a:solidFill>
            <a:srgbClr val="1E2236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" y="5010912"/>
            <a:ext cx="1234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22C55E"/>
                </a:solidFill>
              </a:rPr>
              <a:t>82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5669280"/>
            <a:ext cx="1234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CA3AF"/>
                </a:solidFill>
              </a:rPr>
              <a:t>/100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65960" y="4919472"/>
            <a:ext cx="3657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libvirt.patch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65960" y="5358384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CA3AF"/>
                </a:solidFill>
              </a:rPr>
              <a:t>3 findings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65960" y="5788152"/>
            <a:ext cx="841248" cy="347472"/>
          </a:xfrm>
          <a:prstGeom prst="rect">
            <a:avLst/>
          </a:prstGeom>
          <a:solidFill>
            <a:srgbClr val="1E2236"/>
          </a:solidFill>
          <a:ln w="1016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965960" y="5815584"/>
            <a:ext cx="8412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97316"/>
                </a:solidFill>
              </a:rPr>
              <a:t>L001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880360" y="5788152"/>
            <a:ext cx="841248" cy="347472"/>
          </a:xfrm>
          <a:prstGeom prst="rect">
            <a:avLst/>
          </a:prstGeom>
          <a:solidFill>
            <a:srgbClr val="1E2236"/>
          </a:solidFill>
          <a:ln w="1016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880360" y="5815584"/>
            <a:ext cx="8412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60A5FA"/>
                </a:solidFill>
              </a:rPr>
              <a:t>L002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794760" y="5788152"/>
            <a:ext cx="841248" cy="347472"/>
          </a:xfrm>
          <a:prstGeom prst="rect">
            <a:avLst/>
          </a:prstGeom>
          <a:solidFill>
            <a:srgbClr val="1E2236"/>
          </a:solidFill>
          <a:ln w="1016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794760" y="5815584"/>
            <a:ext cx="8412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97316"/>
                </a:solidFill>
              </a:rPr>
              <a:t>L003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watsonx Granite AI Review — Live Output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04672"/>
            <a:ext cx="1005840" cy="50292"/>
          </a:xfrm>
          <a:prstGeom prst="rect">
            <a:avLst/>
          </a:prstGeom>
          <a:solidFill>
            <a:srgbClr val="22C55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1261872"/>
            <a:ext cx="11338560" cy="1828800"/>
          </a:xfrm>
          <a:prstGeom prst="rect">
            <a:avLst/>
          </a:prstGeom>
          <a:solidFill>
            <a:srgbClr val="1E2236"/>
          </a:solidFill>
          <a:ln w="1524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1261872"/>
            <a:ext cx="64008" cy="1828800"/>
          </a:xfrm>
          <a:prstGeom prst="rect">
            <a:avLst/>
          </a:prstGeom>
          <a:solidFill>
            <a:srgbClr val="22C55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353312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C55E"/>
                </a:solidFill>
              </a:rPr>
              <a:t>kernel.patch  ·  56/100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1353312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9CA3AF"/>
                </a:solidFill>
              </a:rPr>
              <a:t>ibm/granite-3-8b-instruct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737360"/>
            <a:ext cx="11064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Introduces kvm_vcpu_init() allocating memory via kzalloc(), initialising an mmio region with ioremap(), and setting GPR[0] to zero. Contains a bare printk() and unresolved TODO — not ready for upstream.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249424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</a:rPr>
              <a:t>(1) Ensure kzalloc() failure returns an error code, not silent continuation.  ·  (2) Replace printk() with pr_info() / pr_err() per kernel coding style.  ·  (3) Assign ioremap() result to an __iomem* pointer, not void*.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3236976"/>
            <a:ext cx="11338560" cy="1828800"/>
          </a:xfrm>
          <a:prstGeom prst="rect">
            <a:avLst/>
          </a:prstGeom>
          <a:solidFill>
            <a:srgbClr val="1E2236"/>
          </a:solidFill>
          <a:ln w="1524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3236976"/>
            <a:ext cx="64008" cy="1828800"/>
          </a:xfrm>
          <a:prstGeom prst="rect">
            <a:avLst/>
          </a:prstGeom>
          <a:solidFill>
            <a:srgbClr val="FACC15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328416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ACC15"/>
                </a:solidFill>
              </a:rPr>
              <a:t>qemu.patch  ·  78/100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3328416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9CA3AF"/>
                </a:solidFill>
              </a:rPr>
              <a:t>ibm/granite-3-8b-instruct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3712464"/>
            <a:ext cx="11064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New virtio-blk config handler has multiple critical issues preventing upstream acceptance: assert(0) causes hard abort, triple object_unref creates double-free risk, and error_free() silently drops errors.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4224528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</a:rPr>
              <a:t>(1) Replace assert(0) with g_assert_not_reached() per QEMU coding style.  ·  (2) Fix triple object_unref — add matching object_ref or remove duplicate unrefs.  ·  (3) Use error_propagate() instead of error_free() to surface errors to callers.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5212080"/>
            <a:ext cx="11338560" cy="1828800"/>
          </a:xfrm>
          <a:prstGeom prst="rect">
            <a:avLst/>
          </a:prstGeom>
          <a:solidFill>
            <a:srgbClr val="1E2236"/>
          </a:solidFill>
          <a:ln w="1524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5212080"/>
            <a:ext cx="64008" cy="1828800"/>
          </a:xfrm>
          <a:prstGeom prst="rect">
            <a:avLst/>
          </a:prstGeom>
          <a:solidFill>
            <a:srgbClr val="86EFA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30352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6EFAC"/>
                </a:solidFill>
              </a:rPr>
              <a:t>libvirt.patch  ·  82/100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5303520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9CA3AF"/>
                </a:solidFill>
              </a:rPr>
              <a:t>ibm/granite-3-8b-instruct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5687568"/>
            <a:ext cx="11064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Helper function only allocates memory and prints stderr without performing any actual network driver initialisation — incomplete and not upstreamable as-is.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199632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</a:rPr>
              <a:t>(1) Implement real network driver initialisation in qemuNetworkInit().  ·  (2) Replace fprintf(stderr) with virReportError() per libvirt error-handling policy.  ·  (3) Replace strdup() with virStrdup() for consistent libvirt memory management.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Live Demo — Real HTML Report Output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04672"/>
            <a:ext cx="1005840" cy="50292"/>
          </a:xfrm>
          <a:prstGeom prst="rect">
            <a:avLst/>
          </a:prstGeom>
          <a:solidFill>
            <a:srgbClr val="22C55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Actual output from running: ./patchiq/run_review.sh  (commit 5df5990)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61872"/>
            <a:ext cx="11247120" cy="1325880"/>
          </a:xfrm>
          <a:prstGeom prst="rect">
            <a:avLst/>
          </a:prstGeom>
          <a:solidFill>
            <a:srgbClr val="1E2640"/>
          </a:solidFill>
          <a:ln w="1524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61872"/>
            <a:ext cx="11247120" cy="64008"/>
          </a:xfrm>
          <a:prstGeom prst="rect">
            <a:avLst/>
          </a:prstGeom>
          <a:solidFill>
            <a:srgbClr val="22C55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53312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</a:rPr>
              <a:t>PatchIQ — AI-powered patch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64208"/>
            <a:ext cx="8229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feat(ciiq): make team-ready — onboarding, CI, docs, best practices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3347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</a:rPr>
              <a:t>PATCH 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862072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22C55E"/>
                </a:solidFill>
              </a:rPr>
              <a:t>100/100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263347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</a:rPr>
              <a:t>FILES CHANGED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2862072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60A5FA"/>
                </a:solidFill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63347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</a:rPr>
              <a:t>FINDINGS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862072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22C55E"/>
                </a:solidFill>
              </a:rP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63347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1">
                <a:solidFill>
                  <a:srgbClr val="9CA3AF"/>
                </a:solidFill>
              </a:rPr>
              <a:t>Generated: 2026-07-16 21:12:19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401568"/>
            <a:ext cx="11247120" cy="1508760"/>
          </a:xfrm>
          <a:prstGeom prst="rect">
            <a:avLst/>
          </a:prstGeom>
          <a:solidFill>
            <a:srgbClr val="1E2236"/>
          </a:solidFill>
          <a:ln w="15240">
            <a:solidFill>
              <a:srgbClr val="7C5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401568"/>
            <a:ext cx="11247120" cy="54864"/>
          </a:xfrm>
          <a:prstGeom prst="rect">
            <a:avLst/>
          </a:prstGeom>
          <a:solidFill>
            <a:srgbClr val="7C5CD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" y="3474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C5CD8"/>
                </a:solidFill>
              </a:rPr>
              <a:t>🤖  AI Review Summary (watsonx Granite 3-8b-instruct)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38587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The patch introduces a new Flask-based backend with REST endpoints, a venv setup script, and a GitHub Actions CI workflow including linting and smoke testing. The overall structure, CI practices, and documentation align with upstream standards.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43708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2C55E"/>
                </a:solidFill>
              </a:rPr>
              <a:t>✅  No style issues found  ·  0 findings  ·  Score: 100/100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074920"/>
            <a:ext cx="11247120" cy="1508760"/>
          </a:xfrm>
          <a:prstGeom prst="rect">
            <a:avLst/>
          </a:prstGeom>
          <a:solidFill>
            <a:srgbClr val="1E2236"/>
          </a:solidFill>
          <a:ln w="1524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513892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📂  Files Changed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5541264"/>
            <a:ext cx="6217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</a:rPr>
              <a:t>kvm/ciiq/.github/workflows/ci.yml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5541264"/>
            <a:ext cx="1371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2C55E"/>
                </a:solidFill>
              </a:rPr>
              <a:t>+67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5541264"/>
            <a:ext cx="1645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</a:rPr>
              <a:t>-0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" y="5715000"/>
            <a:ext cx="6217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</a:rPr>
              <a:t>kvm/ciiq/.gitignore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5715000"/>
            <a:ext cx="1371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2C55E"/>
                </a:solidFill>
              </a:rPr>
              <a:t>+33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5715000"/>
            <a:ext cx="1645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</a:rPr>
              <a:t>-0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" y="5888736"/>
            <a:ext cx="6217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</a:rPr>
              <a:t>kvm/ciiq/CHANGELOG.md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5888736"/>
            <a:ext cx="1371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2C55E"/>
                </a:solidFill>
              </a:rPr>
              <a:t>+42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5888736"/>
            <a:ext cx="1645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</a:rPr>
              <a:t>-0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" y="6062472"/>
            <a:ext cx="6217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</a:rPr>
              <a:t>kvm/ciiq/CONTRIBUTING.md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6062472"/>
            <a:ext cx="1371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2C55E"/>
                </a:solidFill>
              </a:rPr>
              <a:t>+99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6062472"/>
            <a:ext cx="1645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</a:rPr>
              <a:t>-0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" y="6236208"/>
            <a:ext cx="6217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</a:rPr>
              <a:t>kvm/ciiq/setup.sh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0" y="6236208"/>
            <a:ext cx="1371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2C55E"/>
                </a:solidFill>
              </a:rPr>
              <a:t>+132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0" y="6236208"/>
            <a:ext cx="1645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</a:rPr>
              <a:t>-0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6409944"/>
            <a:ext cx="6217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</a:rPr>
              <a:t>kvm/ciiq/templates/ciiq.html.bak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49440" y="6409944"/>
            <a:ext cx="1371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2C55E"/>
                </a:solidFill>
              </a:rPr>
              <a:t>+0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0" y="6409944"/>
            <a:ext cx="1645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F4444"/>
                </a:solidFill>
              </a:rPr>
              <a:t>-896 (removed)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Kernel Patch Deep-Dive — 56/100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04672"/>
            <a:ext cx="1005840" cy="50292"/>
          </a:xfrm>
          <a:prstGeom prst="rect">
            <a:avLst/>
          </a:prstGeom>
          <a:solidFill>
            <a:srgbClr val="22C55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298448"/>
            <a:ext cx="11247120" cy="658368"/>
          </a:xfrm>
          <a:prstGeom prst="rect">
            <a:avLst/>
          </a:prstGeom>
          <a:solidFill>
            <a:srgbClr val="1E2236"/>
          </a:solidFill>
          <a:ln w="1524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98448"/>
            <a:ext cx="54864" cy="658368"/>
          </a:xfrm>
          <a:prstGeom prst="rect">
            <a:avLst/>
          </a:prstGeom>
          <a:solidFill>
            <a:srgbClr val="F9731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35608"/>
            <a:ext cx="658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97316"/>
                </a:solidFill>
              </a:rPr>
              <a:t>K001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435608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pr_info / pr_err over printk()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23560" y="1435608"/>
            <a:ext cx="5943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CA3AF"/>
                </a:solidFill>
              </a:rPr>
              <a:t>printk(KERN_INFO "kvm: vcpu %d created\n", vcpu-&gt;vcpu_id);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057400"/>
            <a:ext cx="11247120" cy="658368"/>
          </a:xfrm>
          <a:prstGeom prst="rect">
            <a:avLst/>
          </a:prstGeom>
          <a:solidFill>
            <a:srgbClr val="1E2236"/>
          </a:solidFill>
          <a:ln w="1524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057400"/>
            <a:ext cx="54864" cy="658368"/>
          </a:xfrm>
          <a:prstGeom prst="rect">
            <a:avLst/>
          </a:prstGeom>
          <a:solidFill>
            <a:srgbClr val="60A5F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194560"/>
            <a:ext cx="658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0A5FA"/>
                </a:solidFill>
              </a:rPr>
              <a:t>K002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194560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goto for cleanup after alloc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23560" y="2194560"/>
            <a:ext cx="5943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CA3AF"/>
                </a:solidFill>
              </a:rPr>
              <a:t>return -ENOMEM;  (after kzalloc)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816352"/>
            <a:ext cx="11247120" cy="658368"/>
          </a:xfrm>
          <a:prstGeom prst="rect">
            <a:avLst/>
          </a:prstGeom>
          <a:solidFill>
            <a:srgbClr val="1E2236"/>
          </a:solidFill>
          <a:ln w="1524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816352"/>
            <a:ext cx="54864" cy="658368"/>
          </a:xfrm>
          <a:prstGeom prst="rect">
            <a:avLst/>
          </a:prstGeom>
          <a:solidFill>
            <a:srgbClr val="F9731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2953512"/>
            <a:ext cx="658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97316"/>
                </a:solidFill>
              </a:rPr>
              <a:t>K003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2953512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ioremap → __iomem pointer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23560" y="2953512"/>
            <a:ext cx="5943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CA3AF"/>
                </a:solidFill>
              </a:rPr>
              <a:t>void *mmio = ioremap(addr, PAGE_SIZE);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575304"/>
            <a:ext cx="11247120" cy="658368"/>
          </a:xfrm>
          <a:prstGeom prst="rect">
            <a:avLst/>
          </a:prstGeom>
          <a:solidFill>
            <a:srgbClr val="1E2236"/>
          </a:solidFill>
          <a:ln w="1524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575304"/>
            <a:ext cx="54864" cy="658368"/>
          </a:xfrm>
          <a:prstGeom prst="rect">
            <a:avLst/>
          </a:prstGeom>
          <a:solidFill>
            <a:srgbClr val="F9731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3712464"/>
            <a:ext cx="658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97316"/>
                </a:solidFill>
              </a:rPr>
              <a:t>K004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3712464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vcpu state write without lock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23560" y="3712464"/>
            <a:ext cx="5943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CA3AF"/>
                </a:solidFill>
              </a:rPr>
              <a:t>vcpu-&gt;arch.regs[0] = 0;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334256"/>
            <a:ext cx="11247120" cy="658368"/>
          </a:xfrm>
          <a:prstGeom prst="rect">
            <a:avLst/>
          </a:prstGeom>
          <a:solidFill>
            <a:srgbClr val="1E2236"/>
          </a:solidFill>
          <a:ln w="1524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4334256"/>
            <a:ext cx="54864" cy="658368"/>
          </a:xfrm>
          <a:prstGeom prst="rect">
            <a:avLst/>
          </a:prstGeom>
          <a:solidFill>
            <a:srgbClr val="F9731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4471416"/>
            <a:ext cx="658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97316"/>
                </a:solidFill>
              </a:rPr>
              <a:t>U001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4471416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Line exceeds 100 chars (110)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23560" y="4471416"/>
            <a:ext cx="5943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CA3AF"/>
                </a:solidFill>
              </a:rPr>
              <a:t>int longvar_with_a_very_descriptive_name = some_function_call(…);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093208"/>
            <a:ext cx="11247120" cy="658368"/>
          </a:xfrm>
          <a:prstGeom prst="rect">
            <a:avLst/>
          </a:prstGeom>
          <a:solidFill>
            <a:srgbClr val="1E2236"/>
          </a:solidFill>
          <a:ln w="1524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5093208"/>
            <a:ext cx="54864" cy="658368"/>
          </a:xfrm>
          <a:prstGeom prst="rect">
            <a:avLst/>
          </a:prstGeom>
          <a:solidFill>
            <a:srgbClr val="F9731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5230368"/>
            <a:ext cx="658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97316"/>
                </a:solidFill>
              </a:rPr>
              <a:t>U002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5230368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Trailing whitespace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23560" y="5230368"/>
            <a:ext cx="5943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CA3AF"/>
                </a:solidFill>
              </a:rPr>
              <a:t>(same line as U001)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5852160"/>
            <a:ext cx="11247120" cy="658368"/>
          </a:xfrm>
          <a:prstGeom prst="rect">
            <a:avLst/>
          </a:prstGeom>
          <a:solidFill>
            <a:srgbClr val="1E2236"/>
          </a:solidFill>
          <a:ln w="1524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57200" y="5852160"/>
            <a:ext cx="54864" cy="658368"/>
          </a:xfrm>
          <a:prstGeom prst="rect">
            <a:avLst/>
          </a:prstGeom>
          <a:solidFill>
            <a:srgbClr val="60A5F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4360" y="5989320"/>
            <a:ext cx="658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0A5FA"/>
                </a:solidFill>
              </a:rPr>
              <a:t>U003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600" y="5989320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Unresolved TODO marker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23560" y="5989320"/>
            <a:ext cx="5943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CA3AF"/>
                </a:solidFill>
              </a:rPr>
              <a:t>/* TODO: handle error path */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QEMU Patch Deep-Dive — 78/100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04672"/>
            <a:ext cx="1005840" cy="50292"/>
          </a:xfrm>
          <a:prstGeom prst="rect">
            <a:avLst/>
          </a:prstGeom>
          <a:solidFill>
            <a:srgbClr val="22C55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298448"/>
            <a:ext cx="11247120" cy="777240"/>
          </a:xfrm>
          <a:prstGeom prst="rect">
            <a:avLst/>
          </a:prstGeom>
          <a:solidFill>
            <a:srgbClr val="1E2236"/>
          </a:solidFill>
          <a:ln w="1524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98448"/>
            <a:ext cx="54864" cy="777240"/>
          </a:xfrm>
          <a:prstGeom prst="rect">
            <a:avLst/>
          </a:prstGeom>
          <a:solidFill>
            <a:srgbClr val="F9731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81328"/>
            <a:ext cx="658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97316"/>
                </a:solidFill>
              </a:rPr>
              <a:t>Q001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481328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error_propagate() not error_free()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481328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CA3AF"/>
                </a:solidFill>
              </a:rPr>
              <a:t>error_free(&amp;err);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12848"/>
            <a:ext cx="11247120" cy="777240"/>
          </a:xfrm>
          <a:prstGeom prst="rect">
            <a:avLst/>
          </a:prstGeom>
          <a:solidFill>
            <a:srgbClr val="1E2236"/>
          </a:solidFill>
          <a:ln w="1524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212848"/>
            <a:ext cx="54864" cy="777240"/>
          </a:xfrm>
          <a:prstGeom prst="rect">
            <a:avLst/>
          </a:prstGeom>
          <a:solidFill>
            <a:srgbClr val="60A5F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395728"/>
            <a:ext cx="658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0A5FA"/>
                </a:solidFill>
              </a:rPr>
              <a:t>Q002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95728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g_new0(Type,n) not g_malloc0(sizeof)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2395728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CA3AF"/>
                </a:solidFill>
              </a:rPr>
              <a:t>s = g_malloc0(sizeof(VirtIOBlk));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127248"/>
            <a:ext cx="11247120" cy="777240"/>
          </a:xfrm>
          <a:prstGeom prst="rect">
            <a:avLst/>
          </a:prstGeom>
          <a:solidFill>
            <a:srgbClr val="1E2236"/>
          </a:solidFill>
          <a:ln w="1524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127248"/>
            <a:ext cx="54864" cy="777240"/>
          </a:xfrm>
          <a:prstGeom prst="rect">
            <a:avLst/>
          </a:prstGeom>
          <a:solidFill>
            <a:srgbClr val="60A5F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310128"/>
            <a:ext cx="658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0A5FA"/>
                </a:solidFill>
              </a:rPr>
              <a:t>Q003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310128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g_assert_not_reached() not assert(0)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3310128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CA3AF"/>
                </a:solidFill>
              </a:rPr>
              <a:t>assert(0);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041648"/>
            <a:ext cx="11247120" cy="777240"/>
          </a:xfrm>
          <a:prstGeom prst="rect">
            <a:avLst/>
          </a:prstGeom>
          <a:solidFill>
            <a:srgbClr val="1E2236"/>
          </a:solidFill>
          <a:ln w="1524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4041648"/>
            <a:ext cx="54864" cy="777240"/>
          </a:xfrm>
          <a:prstGeom prst="rect">
            <a:avLst/>
          </a:prstGeom>
          <a:solidFill>
            <a:srgbClr val="F9731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4224528"/>
            <a:ext cx="658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97316"/>
                </a:solidFill>
              </a:rPr>
              <a:t>Q004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224528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More object_unref (3) than object_ref (0)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4224528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CA3AF"/>
                </a:solidFill>
              </a:rPr>
              <a:t>object_unref×3 — double-free risk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956048"/>
            <a:ext cx="11247120" cy="777240"/>
          </a:xfrm>
          <a:prstGeom prst="rect">
            <a:avLst/>
          </a:prstGeom>
          <a:solidFill>
            <a:srgbClr val="1E2236"/>
          </a:solidFill>
          <a:ln w="1524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4956048"/>
            <a:ext cx="54864" cy="777240"/>
          </a:xfrm>
          <a:prstGeom prst="rect">
            <a:avLst/>
          </a:prstGeom>
          <a:solidFill>
            <a:srgbClr val="60A5F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5138928"/>
            <a:ext cx="658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0A5FA"/>
                </a:solidFill>
              </a:rPr>
              <a:t>U003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5138928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Unresolved FIXME marker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5138928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CA3AF"/>
                </a:solidFill>
              </a:rPr>
              <a:t>/* FIXME: double-free risk here */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libvirt Patch Deep-Dive — 82/100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04672"/>
            <a:ext cx="1005840" cy="50292"/>
          </a:xfrm>
          <a:prstGeom prst="rect">
            <a:avLst/>
          </a:prstGeom>
          <a:solidFill>
            <a:srgbClr val="22C55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417320"/>
            <a:ext cx="11247120" cy="1188720"/>
          </a:xfrm>
          <a:prstGeom prst="rect">
            <a:avLst/>
          </a:prstGeom>
          <a:solidFill>
            <a:srgbClr val="1E2236"/>
          </a:solidFill>
          <a:ln w="1524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73152" cy="1188720"/>
          </a:xfrm>
          <a:prstGeom prst="rect">
            <a:avLst/>
          </a:prstGeom>
          <a:solidFill>
            <a:srgbClr val="F9731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731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97316"/>
                </a:solidFill>
              </a:rPr>
              <a:t>L001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554480"/>
            <a:ext cx="9966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virReportError() not fprintf(stderr, ...)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075688"/>
            <a:ext cx="9966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CA3AF"/>
                </a:solidFill>
              </a:rPr>
              <a:t>fprintf(stderr, "error: network init failed for %s\n", def-&gt;name);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788920"/>
            <a:ext cx="11247120" cy="1188720"/>
          </a:xfrm>
          <a:prstGeom prst="rect">
            <a:avLst/>
          </a:prstGeom>
          <a:solidFill>
            <a:srgbClr val="1E2236"/>
          </a:solidFill>
          <a:ln w="1524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788920"/>
            <a:ext cx="73152" cy="1188720"/>
          </a:xfrm>
          <a:prstGeom prst="rect">
            <a:avLst/>
          </a:prstGeom>
          <a:solidFill>
            <a:srgbClr val="60A5F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926080"/>
            <a:ext cx="731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0A5FA"/>
                </a:solidFill>
              </a:rPr>
              <a:t>L002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926080"/>
            <a:ext cx="9966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VIR_ALLOC without cleanup: label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447288"/>
            <a:ext cx="9966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CA3AF"/>
                </a:solidFill>
              </a:rPr>
              <a:t>VIR_ALLOC(priv)  — no cleanup: label found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160520"/>
            <a:ext cx="11247120" cy="1188720"/>
          </a:xfrm>
          <a:prstGeom prst="rect">
            <a:avLst/>
          </a:prstGeom>
          <a:solidFill>
            <a:srgbClr val="1E2236"/>
          </a:solidFill>
          <a:ln w="1524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4160520"/>
            <a:ext cx="73152" cy="1188720"/>
          </a:xfrm>
          <a:prstGeom prst="rect">
            <a:avLst/>
          </a:prstGeom>
          <a:solidFill>
            <a:srgbClr val="F9731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297680"/>
            <a:ext cx="731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97316"/>
                </a:solidFill>
              </a:rPr>
              <a:t>L003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4297680"/>
            <a:ext cx="9966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virStrdup() not strdup()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818888"/>
            <a:ext cx="9966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CA3AF"/>
                </a:solidFill>
              </a:rPr>
              <a:t>priv-&gt;name = strdup(def-&gt;name);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PatchIQ vs Sashiko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04672"/>
            <a:ext cx="1005840" cy="50292"/>
          </a:xfrm>
          <a:prstGeom prst="rect">
            <a:avLst/>
          </a:prstGeom>
          <a:solidFill>
            <a:srgbClr val="22C55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5349240" cy="5303520"/>
          </a:xfrm>
          <a:prstGeom prst="rect">
            <a:avLst/>
          </a:prstGeom>
          <a:solidFill>
            <a:srgbClr val="1E2236"/>
          </a:solidFill>
          <a:ln w="1524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5349240" cy="54864"/>
          </a:xfrm>
          <a:prstGeom prst="rect">
            <a:avLst/>
          </a:prstGeom>
          <a:solidFill>
            <a:srgbClr val="22C55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25880"/>
            <a:ext cx="5166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2C55E"/>
                </a:solidFill>
              </a:rPr>
              <a:t>PatchIQ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901952"/>
            <a:ext cx="5166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✓  Developer-side  ·  pre-push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432304"/>
            <a:ext cx="5166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✓  14 deterministic style rules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962656"/>
            <a:ext cx="5166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✓  Kernel + QEMU + libvirt layers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493008"/>
            <a:ext cx="5166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✓  watsonx Granite AI narrative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023360"/>
            <a:ext cx="5166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✓  0–100 quality score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553712"/>
            <a:ext cx="5166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✓  Python · MIT license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084064"/>
            <a:ext cx="5166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✓  Runs offline (no credentials req.)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614416"/>
            <a:ext cx="5166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✓  68-test CI suite — 5 Python versions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5080" y="1234440"/>
            <a:ext cx="5349240" cy="5303520"/>
          </a:xfrm>
          <a:prstGeom prst="rect">
            <a:avLst/>
          </a:prstGeom>
          <a:solidFill>
            <a:srgbClr val="1E2236"/>
          </a:solidFill>
          <a:ln w="15240">
            <a:solidFill>
              <a:srgbClr val="7C5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5080" y="1234440"/>
            <a:ext cx="5349240" cy="54864"/>
          </a:xfrm>
          <a:prstGeom prst="rect">
            <a:avLst/>
          </a:prstGeom>
          <a:solidFill>
            <a:srgbClr val="7C5CD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325880"/>
            <a:ext cx="5166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7C5CD8"/>
                </a:solidFill>
              </a:rPr>
              <a:t>Sashiko  (github.com/sashiko-dev)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1901952"/>
            <a:ext cx="5166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 Maintainer-side  ·  post-merge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432304"/>
            <a:ext cx="5166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 11-stage agentic bug hunter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962656"/>
            <a:ext cx="5166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 53.6% bug recall on kernel patches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493008"/>
            <a:ext cx="5166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 LLM-heavy — no deterministic rules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023360"/>
            <a:ext cx="5166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 Rust · Linux Foundation · 897★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553712"/>
            <a:ext cx="5166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 Requires cloud LLM access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5084064"/>
            <a:ext cx="5166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 Complementary — different use case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5614416"/>
            <a:ext cx="5166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 No QEMU / libvirt layer support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4652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ACC15"/>
                </a:solidFill>
              </a:rPr>
              <a:t>PatchIQ (dev side) + Sashiko (maintainer side) = complete coverage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Rule Coverage Matrix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04672"/>
            <a:ext cx="1005840" cy="50292"/>
          </a:xfrm>
          <a:prstGeom prst="rect">
            <a:avLst/>
          </a:prstGeom>
          <a:solidFill>
            <a:srgbClr val="22C55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1261872"/>
            <a:ext cx="11064240" cy="333756"/>
          </a:xfrm>
          <a:prstGeom prst="rect">
            <a:avLst/>
          </a:prstGeom>
          <a:solidFill>
            <a:srgbClr val="374151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316736"/>
            <a:ext cx="731520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52728" y="1316736"/>
            <a:ext cx="1280160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78608" y="1316736"/>
            <a:ext cx="1051560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Severity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75888" y="1316736"/>
            <a:ext cx="7726680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Description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595628"/>
            <a:ext cx="11064240" cy="333756"/>
          </a:xfrm>
          <a:prstGeom prst="rect">
            <a:avLst/>
          </a:prstGeom>
          <a:solidFill>
            <a:srgbClr val="1E223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1641348"/>
            <a:ext cx="731520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C55E"/>
                </a:solidFill>
              </a:rPr>
              <a:t>K001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52728" y="1641348"/>
            <a:ext cx="1280160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C55E"/>
                </a:solidFill>
              </a:rPr>
              <a:t>kernel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78608" y="1641348"/>
            <a:ext cx="1051560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97316"/>
                </a:solidFill>
              </a:rPr>
              <a:t>warning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75888" y="1641348"/>
            <a:ext cx="7726680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Prefer pr_info/pr_err over printk()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1929384"/>
            <a:ext cx="11064240" cy="333756"/>
          </a:xfrm>
          <a:prstGeom prst="rect">
            <a:avLst/>
          </a:prstGeom>
          <a:solidFill>
            <a:srgbClr val="1A1D2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1975104"/>
            <a:ext cx="731520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C55E"/>
                </a:solidFill>
              </a:rPr>
              <a:t>K002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52728" y="1975104"/>
            <a:ext cx="1280160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C55E"/>
                </a:solidFill>
              </a:rPr>
              <a:t>kernel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78608" y="1975104"/>
            <a:ext cx="1051560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A5FA"/>
                </a:solidFill>
              </a:rPr>
              <a:t>info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75888" y="1975104"/>
            <a:ext cx="7726680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goto for cleanup after allocation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2263140"/>
            <a:ext cx="11064240" cy="333756"/>
          </a:xfrm>
          <a:prstGeom prst="rect">
            <a:avLst/>
          </a:prstGeom>
          <a:solidFill>
            <a:srgbClr val="1E223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2308860"/>
            <a:ext cx="731520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C55E"/>
                </a:solidFill>
              </a:rPr>
              <a:t>K003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52728" y="2308860"/>
            <a:ext cx="1280160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C55E"/>
                </a:solidFill>
              </a:rPr>
              <a:t>kernel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78608" y="2308860"/>
            <a:ext cx="1051560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97316"/>
                </a:solidFill>
              </a:rPr>
              <a:t>warning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75888" y="2308860"/>
            <a:ext cx="7726680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ioremap → __iomem pointer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2596896"/>
            <a:ext cx="11064240" cy="333756"/>
          </a:xfrm>
          <a:prstGeom prst="rect">
            <a:avLst/>
          </a:prstGeom>
          <a:solidFill>
            <a:srgbClr val="1A1D2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5488" y="2642616"/>
            <a:ext cx="731520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C55E"/>
                </a:solidFill>
              </a:rPr>
              <a:t>K004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52728" y="2642616"/>
            <a:ext cx="1280160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C55E"/>
                </a:solidFill>
              </a:rPr>
              <a:t>kernel/kvm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78608" y="2642616"/>
            <a:ext cx="1051560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97316"/>
                </a:solidFill>
              </a:rPr>
              <a:t>warning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75888" y="2642616"/>
            <a:ext cx="7726680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vcpu state write without lock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2930652"/>
            <a:ext cx="11064240" cy="333756"/>
          </a:xfrm>
          <a:prstGeom prst="rect">
            <a:avLst/>
          </a:prstGeom>
          <a:solidFill>
            <a:srgbClr val="1E223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5488" y="2976372"/>
            <a:ext cx="731520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A5FA"/>
                </a:solidFill>
              </a:rPr>
              <a:t>Q001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52728" y="2976372"/>
            <a:ext cx="1280160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A5FA"/>
                </a:solidFill>
              </a:rPr>
              <a:t>qemu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78608" y="2976372"/>
            <a:ext cx="1051560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97316"/>
                </a:solidFill>
              </a:rPr>
              <a:t>warning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75888" y="2976372"/>
            <a:ext cx="7726680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error_propagate() not error_free()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1480" y="3264408"/>
            <a:ext cx="11064240" cy="333756"/>
          </a:xfrm>
          <a:prstGeom prst="rect">
            <a:avLst/>
          </a:prstGeom>
          <a:solidFill>
            <a:srgbClr val="1A1D2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5488" y="3310128"/>
            <a:ext cx="731520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A5FA"/>
                </a:solidFill>
              </a:rPr>
              <a:t>Q002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52728" y="3310128"/>
            <a:ext cx="1280160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A5FA"/>
                </a:solidFill>
              </a:rPr>
              <a:t>qemu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578608" y="3310128"/>
            <a:ext cx="1051560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A5FA"/>
                </a:solidFill>
              </a:rPr>
              <a:t>info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75888" y="3310128"/>
            <a:ext cx="7726680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g_new0() not g_malloc0(sizeof)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" y="3598164"/>
            <a:ext cx="11064240" cy="333756"/>
          </a:xfrm>
          <a:prstGeom prst="rect">
            <a:avLst/>
          </a:prstGeom>
          <a:solidFill>
            <a:srgbClr val="1E223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75488" y="3643884"/>
            <a:ext cx="731520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A5FA"/>
                </a:solidFill>
              </a:rPr>
              <a:t>Q003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52728" y="3643884"/>
            <a:ext cx="1280160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A5FA"/>
                </a:solidFill>
              </a:rPr>
              <a:t>qemu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578608" y="3643884"/>
            <a:ext cx="1051560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A5FA"/>
                </a:solidFill>
              </a:rPr>
              <a:t>info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75888" y="3643884"/>
            <a:ext cx="7726680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g_assert_not_reached() not assert(0)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1480" y="3931920"/>
            <a:ext cx="11064240" cy="333756"/>
          </a:xfrm>
          <a:prstGeom prst="rect">
            <a:avLst/>
          </a:prstGeom>
          <a:solidFill>
            <a:srgbClr val="1A1D2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5488" y="3977640"/>
            <a:ext cx="731520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A5FA"/>
                </a:solidFill>
              </a:rPr>
              <a:t>Q004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52728" y="3977640"/>
            <a:ext cx="1280160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A5FA"/>
                </a:solidFill>
              </a:rPr>
              <a:t>qemu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578608" y="3977640"/>
            <a:ext cx="1051560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97316"/>
                </a:solidFill>
              </a:rPr>
              <a:t>warning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75888" y="3977640"/>
            <a:ext cx="7726680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object_unref&gt;object_ref — double-free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11480" y="4265676"/>
            <a:ext cx="11064240" cy="333756"/>
          </a:xfrm>
          <a:prstGeom prst="rect">
            <a:avLst/>
          </a:prstGeom>
          <a:solidFill>
            <a:srgbClr val="1E223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75488" y="4311396"/>
            <a:ext cx="731520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C5CD8"/>
                </a:solidFill>
              </a:rPr>
              <a:t>L001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52728" y="4311396"/>
            <a:ext cx="1280160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C5CD8"/>
                </a:solidFill>
              </a:rPr>
              <a:t>libvirt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578608" y="4311396"/>
            <a:ext cx="1051560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97316"/>
                </a:solidFill>
              </a:rPr>
              <a:t>warning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675888" y="4311396"/>
            <a:ext cx="7726680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virReportError() not fprintf(stderr)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11480" y="4599432"/>
            <a:ext cx="11064240" cy="333756"/>
          </a:xfrm>
          <a:prstGeom prst="rect">
            <a:avLst/>
          </a:prstGeom>
          <a:solidFill>
            <a:srgbClr val="1A1D2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75488" y="4645152"/>
            <a:ext cx="731520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C5CD8"/>
                </a:solidFill>
              </a:rPr>
              <a:t>L002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52728" y="4645152"/>
            <a:ext cx="1280160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C5CD8"/>
                </a:solidFill>
              </a:rPr>
              <a:t>libvirt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578608" y="4645152"/>
            <a:ext cx="1051560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A5FA"/>
                </a:solidFill>
              </a:rPr>
              <a:t>info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75888" y="4645152"/>
            <a:ext cx="7726680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VIR_ALLOC without cleanup: label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11480" y="4933188"/>
            <a:ext cx="11064240" cy="333756"/>
          </a:xfrm>
          <a:prstGeom prst="rect">
            <a:avLst/>
          </a:prstGeom>
          <a:solidFill>
            <a:srgbClr val="1E223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75488" y="4978908"/>
            <a:ext cx="731520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C5CD8"/>
                </a:solidFill>
              </a:rPr>
              <a:t>L003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252728" y="4978908"/>
            <a:ext cx="1280160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C5CD8"/>
                </a:solidFill>
              </a:rPr>
              <a:t>libvirt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578608" y="4978908"/>
            <a:ext cx="1051560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97316"/>
                </a:solidFill>
              </a:rPr>
              <a:t>warning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675888" y="4978908"/>
            <a:ext cx="7726680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virStrdup() not strdup()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11480" y="5266944"/>
            <a:ext cx="11064240" cy="333756"/>
          </a:xfrm>
          <a:prstGeom prst="rect">
            <a:avLst/>
          </a:prstGeom>
          <a:solidFill>
            <a:srgbClr val="1A1D2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75488" y="5312664"/>
            <a:ext cx="731520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ACC15"/>
                </a:solidFill>
              </a:rPr>
              <a:t>U001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252728" y="5312664"/>
            <a:ext cx="1280160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ACC15"/>
                </a:solidFill>
              </a:rPr>
              <a:t>all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578608" y="5312664"/>
            <a:ext cx="1051560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97316"/>
                </a:solidFill>
              </a:rPr>
              <a:t>warning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675888" y="5312664"/>
            <a:ext cx="7726680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Line length (100 kernel/libvirt, 80 QEMU)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11480" y="5600700"/>
            <a:ext cx="11064240" cy="333756"/>
          </a:xfrm>
          <a:prstGeom prst="rect">
            <a:avLst/>
          </a:prstGeom>
          <a:solidFill>
            <a:srgbClr val="1E223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75488" y="5646420"/>
            <a:ext cx="731520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ACC15"/>
                </a:solidFill>
              </a:rPr>
              <a:t>U002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252728" y="5646420"/>
            <a:ext cx="1280160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ACC15"/>
                </a:solidFill>
              </a:rPr>
              <a:t>all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578608" y="5646420"/>
            <a:ext cx="1051560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97316"/>
                </a:solidFill>
              </a:rPr>
              <a:t>warning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675888" y="5646420"/>
            <a:ext cx="7726680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Trailing whitespace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11480" y="5934456"/>
            <a:ext cx="11064240" cy="333756"/>
          </a:xfrm>
          <a:prstGeom prst="rect">
            <a:avLst/>
          </a:prstGeom>
          <a:solidFill>
            <a:srgbClr val="1A1D2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75488" y="5980176"/>
            <a:ext cx="731520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ACC15"/>
                </a:solidFill>
              </a:rPr>
              <a:t>U003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252728" y="5980176"/>
            <a:ext cx="1280160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ACC15"/>
                </a:solidFill>
              </a:rPr>
              <a:t>all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578608" y="5980176"/>
            <a:ext cx="1051560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A5FA"/>
                </a:solidFill>
              </a:rPr>
              <a:t>info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675888" y="5980176"/>
            <a:ext cx="7726680" cy="27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TODO/FIXME/HACK/XXX marker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Summary &amp; 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04672"/>
            <a:ext cx="1005840" cy="50292"/>
          </a:xfrm>
          <a:prstGeom prst="rect">
            <a:avLst/>
          </a:prstGeom>
          <a:solidFill>
            <a:srgbClr val="22C55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234440"/>
            <a:ext cx="5303520" cy="5303520"/>
          </a:xfrm>
          <a:prstGeom prst="rect">
            <a:avLst/>
          </a:prstGeom>
          <a:solidFill>
            <a:srgbClr val="1E2236"/>
          </a:solidFill>
          <a:ln w="1524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98448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2C55E"/>
                </a:solidFill>
              </a:rPr>
              <a:t>What We Built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874519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✓  14 style rules across 3 layers + universal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404871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✓  Four-stage pipeline: parse→detect→rules→AI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935223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✓  watsonx Granite 13B AI narrative + suggestions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465575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✓  0–100 patch quality 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995927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✓  68-test suite · CI matrix Python 3.8–3.12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526279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✓  pyproject.toml · pre-commit · GitHub Actions CI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5056631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✓  MIT license · CONTRIBUTING guide · CHANGELOG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586983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✓  Scores: kernel 56  ·  QEMU 78  ·  libvirt 82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234440"/>
            <a:ext cx="5577840" cy="5303520"/>
          </a:xfrm>
          <a:prstGeom prst="rect">
            <a:avLst/>
          </a:prstGeom>
          <a:solidFill>
            <a:srgbClr val="1E2236"/>
          </a:solidFill>
          <a:ln w="1524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298448"/>
            <a:ext cx="5303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60A5FA"/>
                </a:solidFill>
              </a:rPr>
              <a:t>Roadmap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1874519"/>
            <a:ext cx="640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0A5FA"/>
                </a:solidFill>
              </a:rPr>
              <a:t>v0.2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1874519"/>
            <a:ext cx="4572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Git hook integration (pre-push)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404871"/>
            <a:ext cx="640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0A5FA"/>
                </a:solidFill>
              </a:rPr>
              <a:t>v0.2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2404871"/>
            <a:ext cx="4572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IDE plugin (VS Code + vim)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2935223"/>
            <a:ext cx="640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0A5FA"/>
                </a:solidFill>
              </a:rPr>
              <a:t>v0.3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2935223"/>
            <a:ext cx="4572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E-mail / Patchwork webhook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3465575"/>
            <a:ext cx="640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0A5FA"/>
                </a:solidFill>
              </a:rPr>
              <a:t>v0.3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3465575"/>
            <a:ext cx="4572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Cover-letter quality check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3995927"/>
            <a:ext cx="640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0A5FA"/>
                </a:solidFill>
              </a:rPr>
              <a:t>v0.4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86600" y="3995927"/>
            <a:ext cx="4572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s390x-specific KVM rules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4526279"/>
            <a:ext cx="640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0A5FA"/>
                </a:solidFill>
              </a:rPr>
              <a:t>v0.4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4526279"/>
            <a:ext cx="4572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Signed-off-by / Co-developed-by lint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5056631"/>
            <a:ext cx="640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0A5FA"/>
                </a:solidFill>
              </a:rPr>
              <a:t>v1.0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5056631"/>
            <a:ext cx="4572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Gerrit / GitLab CI app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5586983"/>
            <a:ext cx="640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0A5FA"/>
                </a:solidFill>
              </a:rPr>
              <a:t>v1.0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86600" y="5586983"/>
            <a:ext cx="4572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Public release on PyPI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492240"/>
            <a:ext cx="11247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CA3AF"/>
                </a:solidFill>
              </a:rPr>
              <a:t>github.ibm.com/cheruiyo/Watsonx_challenge_2026  ·  pip install patchiq  (coming v1.0)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